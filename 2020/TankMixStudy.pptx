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12192000" cy="1280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2"/>
    <p:restoredTop sz="94679"/>
  </p:normalViewPr>
  <p:slideViewPr>
    <p:cSldViewPr snapToGrid="0" snapToObjects="1">
      <p:cViewPr>
        <p:scale>
          <a:sx n="95" d="100"/>
          <a:sy n="95" d="100"/>
        </p:scale>
        <p:origin x="132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095078"/>
            <a:ext cx="10363200" cy="4456853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723804"/>
            <a:ext cx="9144000" cy="3090756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F4C3-E965-3C47-84B7-4BCBFFD5C112}" type="datetimeFigureOut">
              <a:rPr lang="en-US" smtClean="0"/>
              <a:t>11/10/20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359E7-C018-4441-9485-DC90BCEAB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20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F4C3-E965-3C47-84B7-4BCBFFD5C112}" type="datetimeFigureOut">
              <a:rPr lang="en-US" smtClean="0"/>
              <a:t>11/10/20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359E7-C018-4441-9485-DC90BCEAB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191514"/>
            <a:ext cx="10515600" cy="532510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8567000"/>
            <a:ext cx="10515600" cy="28003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F4C3-E965-3C47-84B7-4BCBFFD5C112}" type="datetimeFigureOut">
              <a:rPr lang="en-US" smtClean="0"/>
              <a:t>11/10/20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359E7-C018-4441-9485-DC90BCEAB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35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407833"/>
            <a:ext cx="518160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407833"/>
            <a:ext cx="518160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F4C3-E965-3C47-84B7-4BCBFFD5C112}" type="datetimeFigureOut">
              <a:rPr lang="en-US" smtClean="0"/>
              <a:t>11/10/20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359E7-C018-4441-9485-DC90BCEAB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26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81570"/>
            <a:ext cx="10515600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138171"/>
            <a:ext cx="5157787" cy="153796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676140"/>
            <a:ext cx="515778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138171"/>
            <a:ext cx="5183188" cy="153796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676140"/>
            <a:ext cx="5183188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F4C3-E965-3C47-84B7-4BCBFFD5C112}" type="datetimeFigureOut">
              <a:rPr lang="en-US" smtClean="0"/>
              <a:t>11/10/20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359E7-C018-4441-9485-DC90BCEAB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11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F4C3-E965-3C47-84B7-4BCBFFD5C112}" type="datetimeFigureOut">
              <a:rPr lang="en-US" smtClean="0"/>
              <a:t>11/10/20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359E7-C018-4441-9485-DC90BCEAB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6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F4C3-E965-3C47-84B7-4BCBFFD5C112}" type="datetimeFigureOut">
              <a:rPr lang="en-US" smtClean="0"/>
              <a:t>11/10/20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359E7-C018-4441-9485-DC90BCEAB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95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53440"/>
            <a:ext cx="3932237" cy="298704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843196"/>
            <a:ext cx="6172200" cy="909743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840480"/>
            <a:ext cx="3932237" cy="7114964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F4C3-E965-3C47-84B7-4BCBFFD5C112}" type="datetimeFigureOut">
              <a:rPr lang="en-US" smtClean="0"/>
              <a:t>11/10/20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359E7-C018-4441-9485-DC90BCEAB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3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53440"/>
            <a:ext cx="3932237" cy="298704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843196"/>
            <a:ext cx="6172200" cy="9097433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840480"/>
            <a:ext cx="3932237" cy="7114964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F4C3-E965-3C47-84B7-4BCBFFD5C112}" type="datetimeFigureOut">
              <a:rPr lang="en-US" smtClean="0"/>
              <a:t>11/10/20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359E7-C018-4441-9485-DC90BCEAB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27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F4C3-E965-3C47-84B7-4BCBFFD5C112}" type="datetimeFigureOut">
              <a:rPr lang="en-US" smtClean="0"/>
              <a:t>11/10/20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359E7-C018-4441-9485-DC90BCEAB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14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81567"/>
            <a:ext cx="2628900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81567"/>
            <a:ext cx="7734300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F4C3-E965-3C47-84B7-4BCBFFD5C112}" type="datetimeFigureOut">
              <a:rPr lang="en-US" smtClean="0"/>
              <a:t>11/10/20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359E7-C018-4441-9485-DC90BCEAB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61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81570"/>
            <a:ext cx="10515600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407833"/>
            <a:ext cx="10515600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865189"/>
            <a:ext cx="274320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4F4C3-E965-3C47-84B7-4BCBFFD5C112}" type="datetimeFigureOut">
              <a:rPr lang="en-US" smtClean="0"/>
              <a:t>11/10/20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865189"/>
            <a:ext cx="411480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865189"/>
            <a:ext cx="274320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359E7-C018-4441-9485-DC90BCEAB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79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box and whisker chart&#10;&#10;Description automatically generated">
            <a:extLst>
              <a:ext uri="{FF2B5EF4-FFF2-40B4-BE49-F238E27FC236}">
                <a16:creationId xmlns:a16="http://schemas.microsoft.com/office/drawing/2014/main" id="{6DEA1231-199A-7249-B385-5120500BE3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12551"/>
          <a:stretch/>
        </p:blipFill>
        <p:spPr>
          <a:xfrm>
            <a:off x="-5283200" y="230144"/>
            <a:ext cx="10312400" cy="93083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7D8F5D-5097-6247-B9B7-47C42FC243C4}"/>
              </a:ext>
            </a:extLst>
          </p:cNvPr>
          <p:cNvSpPr txBox="1"/>
          <p:nvPr/>
        </p:nvSpPr>
        <p:spPr>
          <a:xfrm rot="2700000">
            <a:off x="-4476332" y="10085718"/>
            <a:ext cx="2176306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/>
              <a:t>Untreated 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1CB28D-EE67-854B-8CBF-D9C39646D604}"/>
              </a:ext>
            </a:extLst>
          </p:cNvPr>
          <p:cNvSpPr txBox="1"/>
          <p:nvPr/>
        </p:nvSpPr>
        <p:spPr>
          <a:xfrm rot="2700000">
            <a:off x="-4503090" y="11492692"/>
            <a:ext cx="615583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Warrior 1.92 FL OZ/</a:t>
            </a:r>
            <a:r>
              <a:rPr lang="en-US" sz="1680" dirty="0" err="1">
                <a:solidFill>
                  <a:srgbClr val="000000"/>
                </a:solidFill>
                <a:latin typeface="Helvetica Neue" panose="02000503000000020004" pitchFamily="2" charset="0"/>
              </a:rPr>
              <a:t>A;Manzate</a:t>
            </a:r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 1.6 QT/A;NIS .25 % V/V</a:t>
            </a:r>
            <a:endParaRPr lang="en-US" sz="16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9CBE6-7159-3A42-B119-E216C465D3BF}"/>
              </a:ext>
            </a:extLst>
          </p:cNvPr>
          <p:cNvSpPr txBox="1"/>
          <p:nvPr/>
        </p:nvSpPr>
        <p:spPr>
          <a:xfrm rot="2700000">
            <a:off x="-3940564" y="11492694"/>
            <a:ext cx="615583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Warrior 1.92 FL OZ/A;NIS .25 % V/V</a:t>
            </a:r>
            <a:endParaRPr lang="en-US" sz="168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90BE54-E271-854B-8096-D8BB5E34E108}"/>
              </a:ext>
            </a:extLst>
          </p:cNvPr>
          <p:cNvSpPr txBox="1"/>
          <p:nvPr/>
        </p:nvSpPr>
        <p:spPr>
          <a:xfrm rot="2700000">
            <a:off x="-3378037" y="11492694"/>
            <a:ext cx="615583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 err="1">
                <a:solidFill>
                  <a:srgbClr val="000000"/>
                </a:solidFill>
                <a:latin typeface="Helvetica Neue" panose="02000503000000020004" pitchFamily="2" charset="0"/>
              </a:rPr>
              <a:t>Manzate</a:t>
            </a:r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 1.6 QT/A;NIS .25 % V/V</a:t>
            </a:r>
            <a:endParaRPr lang="en-US" sz="168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8FAF69-18EF-EE43-9F83-E429C0BDD748}"/>
              </a:ext>
            </a:extLst>
          </p:cNvPr>
          <p:cNvSpPr txBox="1"/>
          <p:nvPr/>
        </p:nvSpPr>
        <p:spPr>
          <a:xfrm rot="2700000">
            <a:off x="-2830371" y="11701160"/>
            <a:ext cx="6745482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 err="1">
                <a:solidFill>
                  <a:srgbClr val="000000"/>
                </a:solidFill>
                <a:latin typeface="Helvetica Neue" panose="02000503000000020004" pitchFamily="2" charset="0"/>
              </a:rPr>
              <a:t>Beleaf</a:t>
            </a:r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 2.8 FL OZ/</a:t>
            </a:r>
            <a:r>
              <a:rPr lang="en-US" sz="1680" dirty="0" err="1">
                <a:solidFill>
                  <a:srgbClr val="000000"/>
                </a:solidFill>
                <a:latin typeface="Helvetica Neue" panose="02000503000000020004" pitchFamily="2" charset="0"/>
              </a:rPr>
              <a:t>A;Luna</a:t>
            </a:r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 Tranquility 16 FL OZ/A;NIS .25 % V/V</a:t>
            </a:r>
            <a:endParaRPr lang="en-US" sz="168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146112-61E4-1644-9AD5-794606B3DEE1}"/>
              </a:ext>
            </a:extLst>
          </p:cNvPr>
          <p:cNvSpPr txBox="1"/>
          <p:nvPr/>
        </p:nvSpPr>
        <p:spPr>
          <a:xfrm rot="2700000">
            <a:off x="-2278465" y="11701161"/>
            <a:ext cx="6745482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 err="1">
                <a:solidFill>
                  <a:srgbClr val="000000"/>
                </a:solidFill>
                <a:latin typeface="Helvetica Neue" panose="02000503000000020004" pitchFamily="2" charset="0"/>
              </a:rPr>
              <a:t>Beleaf</a:t>
            </a:r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 2.8 FL OZ/A;NIS .25 % V/V</a:t>
            </a:r>
            <a:endParaRPr lang="en-US" sz="168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36FC0B-B7C0-CB42-BC6A-CB31A8F466AF}"/>
              </a:ext>
            </a:extLst>
          </p:cNvPr>
          <p:cNvSpPr txBox="1"/>
          <p:nvPr/>
        </p:nvSpPr>
        <p:spPr>
          <a:xfrm rot="2700000">
            <a:off x="-1706460" y="11701158"/>
            <a:ext cx="6745482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Luna Tranquility 16 FL OZ/A;NIS .25 % V/V</a:t>
            </a:r>
            <a:endParaRPr lang="en-US" sz="168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6390D3-79F8-3046-A512-130EE2652DE8}"/>
              </a:ext>
            </a:extLst>
          </p:cNvPr>
          <p:cNvSpPr txBox="1"/>
          <p:nvPr/>
        </p:nvSpPr>
        <p:spPr>
          <a:xfrm rot="2700000">
            <a:off x="-1281168" y="12036663"/>
            <a:ext cx="7694439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 err="1">
                <a:solidFill>
                  <a:srgbClr val="000000"/>
                </a:solidFill>
                <a:latin typeface="Helvetica Neue" panose="02000503000000020004" pitchFamily="2" charset="0"/>
              </a:rPr>
              <a:t>Beleaf</a:t>
            </a:r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 2.8 FL OZ/</a:t>
            </a:r>
            <a:r>
              <a:rPr lang="en-US" sz="1680" dirty="0" err="1">
                <a:solidFill>
                  <a:srgbClr val="000000"/>
                </a:solidFill>
                <a:latin typeface="Helvetica Neue" panose="02000503000000020004" pitchFamily="2" charset="0"/>
              </a:rPr>
              <a:t>A;Bravo</a:t>
            </a:r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 WS .75 PT/</a:t>
            </a:r>
            <a:r>
              <a:rPr lang="en-US" sz="1680" dirty="0" err="1">
                <a:solidFill>
                  <a:srgbClr val="000000"/>
                </a:solidFill>
                <a:latin typeface="Helvetica Neue" panose="02000503000000020004" pitchFamily="2" charset="0"/>
              </a:rPr>
              <a:t>A;Bravo</a:t>
            </a:r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 WS 1.5 PT/A;NIS .25 % V/V</a:t>
            </a:r>
            <a:endParaRPr lang="en-US" sz="168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3B22AA-1FAE-FC4B-8D60-67389305FF07}"/>
              </a:ext>
            </a:extLst>
          </p:cNvPr>
          <p:cNvSpPr txBox="1"/>
          <p:nvPr/>
        </p:nvSpPr>
        <p:spPr>
          <a:xfrm rot="2700000">
            <a:off x="-717513" y="12036663"/>
            <a:ext cx="7694439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Bravo WS .75 PT/</a:t>
            </a:r>
            <a:r>
              <a:rPr lang="en-US" sz="1680" dirty="0" err="1">
                <a:solidFill>
                  <a:srgbClr val="000000"/>
                </a:solidFill>
                <a:latin typeface="Helvetica Neue" panose="02000503000000020004" pitchFamily="2" charset="0"/>
              </a:rPr>
              <a:t>A;Bravo</a:t>
            </a:r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 WS 1.5 PT/A;NIS .25 % V/V</a:t>
            </a:r>
            <a:endParaRPr lang="en-US" sz="168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3E9882-5848-CF4D-94AA-CFD3F1175427}"/>
              </a:ext>
            </a:extLst>
          </p:cNvPr>
          <p:cNvSpPr txBox="1"/>
          <p:nvPr/>
        </p:nvSpPr>
        <p:spPr>
          <a:xfrm rot="2700000">
            <a:off x="-188114" y="12294390"/>
            <a:ext cx="8423406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Warrior 1.92 FL OZ/</a:t>
            </a:r>
            <a:r>
              <a:rPr lang="en-US" sz="1680" dirty="0" err="1">
                <a:solidFill>
                  <a:srgbClr val="000000"/>
                </a:solidFill>
                <a:latin typeface="Helvetica Neue" panose="02000503000000020004" pitchFamily="2" charset="0"/>
              </a:rPr>
              <a:t>A;Bravo</a:t>
            </a:r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 WS .75 PT/</a:t>
            </a:r>
            <a:r>
              <a:rPr lang="en-US" sz="1680" dirty="0" err="1">
                <a:solidFill>
                  <a:srgbClr val="000000"/>
                </a:solidFill>
                <a:latin typeface="Helvetica Neue" panose="02000503000000020004" pitchFamily="2" charset="0"/>
              </a:rPr>
              <a:t>A;Bravo</a:t>
            </a:r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 WS 1.5 PT/A;NIS 0.25 % V/V</a:t>
            </a:r>
            <a:endParaRPr lang="en-US" sz="168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767040-57EA-5540-9C33-B67D4A22318D}"/>
              </a:ext>
            </a:extLst>
          </p:cNvPr>
          <p:cNvSpPr txBox="1"/>
          <p:nvPr/>
        </p:nvSpPr>
        <p:spPr>
          <a:xfrm rot="2700000">
            <a:off x="369667" y="12294388"/>
            <a:ext cx="8423406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 err="1">
                <a:solidFill>
                  <a:srgbClr val="000000"/>
                </a:solidFill>
                <a:latin typeface="Helvetica Neue" panose="02000503000000020004" pitchFamily="2" charset="0"/>
              </a:rPr>
              <a:t>Beleaf</a:t>
            </a:r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 2.8 FL OZ/</a:t>
            </a:r>
            <a:r>
              <a:rPr lang="en-US" sz="1680" dirty="0" err="1">
                <a:solidFill>
                  <a:srgbClr val="000000"/>
                </a:solidFill>
                <a:latin typeface="Helvetica Neue" panose="02000503000000020004" pitchFamily="2" charset="0"/>
              </a:rPr>
              <a:t>A;Manzate</a:t>
            </a:r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 1.6 QT/A;NIS .25 % V/V</a:t>
            </a:r>
            <a:endParaRPr lang="en-US" sz="168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56040C-2714-8C49-8AAC-4593950C2ED2}"/>
              </a:ext>
            </a:extLst>
          </p:cNvPr>
          <p:cNvSpPr txBox="1"/>
          <p:nvPr/>
        </p:nvSpPr>
        <p:spPr>
          <a:xfrm rot="2700000">
            <a:off x="1053367" y="12289716"/>
            <a:ext cx="8423406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Warrior 1.92 FL OZ/</a:t>
            </a:r>
            <a:r>
              <a:rPr lang="en-US" sz="1680" dirty="0" err="1">
                <a:solidFill>
                  <a:srgbClr val="000000"/>
                </a:solidFill>
                <a:latin typeface="Helvetica Neue" panose="02000503000000020004" pitchFamily="2" charset="0"/>
              </a:rPr>
              <a:t>A;Luna</a:t>
            </a:r>
            <a:r>
              <a:rPr lang="en-US" sz="1680" dirty="0">
                <a:solidFill>
                  <a:srgbClr val="000000"/>
                </a:solidFill>
                <a:latin typeface="Helvetica Neue" panose="02000503000000020004" pitchFamily="2" charset="0"/>
              </a:rPr>
              <a:t> Tranquility 16 FL OZ/A;NIS .25 % V/V</a:t>
            </a:r>
            <a:endParaRPr lang="en-US" sz="1680" dirty="0"/>
          </a:p>
        </p:txBody>
      </p:sp>
    </p:spTree>
    <p:extLst>
      <p:ext uri="{BB962C8B-B14F-4D97-AF65-F5344CB8AC3E}">
        <p14:creationId xmlns:p14="http://schemas.microsoft.com/office/powerpoint/2010/main" val="3507885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, box and whisker chart&#10;&#10;Description automatically generated">
            <a:extLst>
              <a:ext uri="{FF2B5EF4-FFF2-40B4-BE49-F238E27FC236}">
                <a16:creationId xmlns:a16="http://schemas.microsoft.com/office/drawing/2014/main" id="{B3DCBE01-95D3-AF44-A239-288ACEDCCD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12551"/>
          <a:stretch/>
        </p:blipFill>
        <p:spPr>
          <a:xfrm>
            <a:off x="2877671" y="1656256"/>
            <a:ext cx="5524500" cy="49865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6DCDF3-F3B8-7640-B658-9D2EEEDC4930}"/>
              </a:ext>
            </a:extLst>
          </p:cNvPr>
          <p:cNvSpPr txBox="1"/>
          <p:nvPr/>
        </p:nvSpPr>
        <p:spPr>
          <a:xfrm rot="2700000">
            <a:off x="3309922" y="6914594"/>
            <a:ext cx="11658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Untreated control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026FD-51C6-BE4C-9559-36778FA1CF62}"/>
              </a:ext>
            </a:extLst>
          </p:cNvPr>
          <p:cNvSpPr txBox="1"/>
          <p:nvPr/>
        </p:nvSpPr>
        <p:spPr>
          <a:xfrm rot="2700000">
            <a:off x="3295587" y="7668330"/>
            <a:ext cx="32977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Warrior 1.92 FL OZ/</a:t>
            </a:r>
            <a:r>
              <a:rPr lang="en-US" sz="900" b="0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A;Manzate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1.6 QT/A;NIS .25 % V/V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47DA44-1A49-C143-AF0B-D3AEFF1044B7}"/>
              </a:ext>
            </a:extLst>
          </p:cNvPr>
          <p:cNvSpPr txBox="1"/>
          <p:nvPr/>
        </p:nvSpPr>
        <p:spPr>
          <a:xfrm rot="2700000">
            <a:off x="3596940" y="7668331"/>
            <a:ext cx="32977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Warrior 1.92 FL OZ/A;NIS .25 % V/V</a:t>
            </a:r>
            <a:endParaRPr 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D26398-6699-AE4F-B4F4-3D4E9C335818}"/>
              </a:ext>
            </a:extLst>
          </p:cNvPr>
          <p:cNvSpPr txBox="1"/>
          <p:nvPr/>
        </p:nvSpPr>
        <p:spPr>
          <a:xfrm rot="2700000">
            <a:off x="3898294" y="7668331"/>
            <a:ext cx="32977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Manzate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1.6 QT/A;NIS .25 % V/V</a:t>
            </a:r>
            <a:endParaRPr lang="en-U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E0BD3D-1BDC-1546-B02E-B4000FDF050A}"/>
              </a:ext>
            </a:extLst>
          </p:cNvPr>
          <p:cNvSpPr txBox="1"/>
          <p:nvPr/>
        </p:nvSpPr>
        <p:spPr>
          <a:xfrm rot="2700000">
            <a:off x="4191686" y="7780009"/>
            <a:ext cx="3613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Beleaf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2.8 FL OZ/</a:t>
            </a:r>
            <a:r>
              <a:rPr lang="en-US" sz="900" b="0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A;Luna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Tranquility 16 FL OZ/A;NIS .25 % V/V</a:t>
            </a:r>
            <a:endParaRPr 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548812-9455-BF47-B430-8CB22DE43765}"/>
              </a:ext>
            </a:extLst>
          </p:cNvPr>
          <p:cNvSpPr txBox="1"/>
          <p:nvPr/>
        </p:nvSpPr>
        <p:spPr>
          <a:xfrm rot="2700000">
            <a:off x="4487350" y="7780009"/>
            <a:ext cx="3613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Beleaf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2.8 FL OZ/A;NIS .25 % V/V</a:t>
            </a:r>
            <a:endParaRPr 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1CBE2-4404-E647-9D1C-A937F5DA329F}"/>
              </a:ext>
            </a:extLst>
          </p:cNvPr>
          <p:cNvSpPr txBox="1"/>
          <p:nvPr/>
        </p:nvSpPr>
        <p:spPr>
          <a:xfrm rot="2700000">
            <a:off x="4793781" y="7780008"/>
            <a:ext cx="3613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Luna Tranquility 16 FL OZ/A;NIS .25 % V/V</a:t>
            </a:r>
            <a:endParaRPr 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C25E1F-B7CB-FA40-873E-9816DE6CA768}"/>
              </a:ext>
            </a:extLst>
          </p:cNvPr>
          <p:cNvSpPr txBox="1"/>
          <p:nvPr/>
        </p:nvSpPr>
        <p:spPr>
          <a:xfrm rot="2700000">
            <a:off x="5021616" y="7959743"/>
            <a:ext cx="41220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Beleaf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2.8 FL OZ/</a:t>
            </a:r>
            <a:r>
              <a:rPr lang="en-US" sz="900" b="0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A;Bravo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WS .75 PT/</a:t>
            </a:r>
            <a:r>
              <a:rPr lang="en-US" sz="900" b="0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A;Bravo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WS 1.5 PT/A;NIS .25 % V/V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AACFEE-1724-1C43-A08F-3E4AAC8C93C0}"/>
              </a:ext>
            </a:extLst>
          </p:cNvPr>
          <p:cNvSpPr txBox="1"/>
          <p:nvPr/>
        </p:nvSpPr>
        <p:spPr>
          <a:xfrm rot="2700000">
            <a:off x="5323574" y="7959743"/>
            <a:ext cx="41220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Bravo WS .75 PT/</a:t>
            </a:r>
            <a:r>
              <a:rPr lang="en-US" sz="900" b="0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A;Bravo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WS 1.5 PT/A;NIS .25 % V/V</a:t>
            </a:r>
            <a:endParaRPr 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F80C24-0657-4C41-BC6A-5F9D573F6B81}"/>
              </a:ext>
            </a:extLst>
          </p:cNvPr>
          <p:cNvSpPr txBox="1"/>
          <p:nvPr/>
        </p:nvSpPr>
        <p:spPr>
          <a:xfrm rot="2700000">
            <a:off x="5607181" y="8097811"/>
            <a:ext cx="45125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Warrior 1.92 FL OZ/</a:t>
            </a:r>
            <a:r>
              <a:rPr lang="en-US" sz="900" b="0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A;Bravo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WS .75 PT/</a:t>
            </a:r>
            <a:r>
              <a:rPr lang="en-US" sz="900" b="0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A;Bravo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WS 1.5 PT/A;NIS 0.25 % V/V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A3460B-9A5E-C549-A4B6-98C3B0A0380B}"/>
              </a:ext>
            </a:extLst>
          </p:cNvPr>
          <p:cNvSpPr txBox="1"/>
          <p:nvPr/>
        </p:nvSpPr>
        <p:spPr>
          <a:xfrm rot="2700000">
            <a:off x="5905992" y="8097810"/>
            <a:ext cx="45125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Beleaf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2.8 FL OZ/</a:t>
            </a:r>
            <a:r>
              <a:rPr lang="en-US" sz="900" b="0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A;Manzate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1.6 QT/A;NIS .25 % V/V</a:t>
            </a:r>
            <a:endParaRPr 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E84343-FD11-754B-8281-0777A296E056}"/>
              </a:ext>
            </a:extLst>
          </p:cNvPr>
          <p:cNvSpPr txBox="1"/>
          <p:nvPr/>
        </p:nvSpPr>
        <p:spPr>
          <a:xfrm rot="2700000">
            <a:off x="6272260" y="8095307"/>
            <a:ext cx="45125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Warrior 1.92 FL OZ/</a:t>
            </a:r>
            <a:r>
              <a:rPr lang="en-US" sz="900" b="0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A;Luna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Tranquility 16 FL OZ/A;NIS .25 % V/V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08544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442</Words>
  <Application>Microsoft Macintosh PowerPoint</Application>
  <PresentationFormat>Custom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Helvetica Neue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Wheeler, David Linnard</dc:creator>
  <cp:lastModifiedBy>Wheeler, David Linnard</cp:lastModifiedBy>
  <cp:revision>2</cp:revision>
  <dcterms:created xsi:type="dcterms:W3CDTF">2020-11-10T16:19:00Z</dcterms:created>
  <dcterms:modified xsi:type="dcterms:W3CDTF">2020-11-10T16:36:06Z</dcterms:modified>
</cp:coreProperties>
</file>